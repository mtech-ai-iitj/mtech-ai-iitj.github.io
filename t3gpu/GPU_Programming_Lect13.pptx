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f21d709b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9f21d709bd_0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f21d709b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f21d709b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21d709bd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21d709bd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21d709b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9f21d709bd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3b1ddb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f3b1ddb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f21d709b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f21d709b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f3b1ddb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f3b1ddb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21d709bd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f21d709bd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f21d709bd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f21d709bd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f21d709bd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f21d709b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f21d709bd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f21d709bd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21d709bd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f21d709bd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f21d709bd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f21d709bd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f3b1ddb0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f3b1ddb0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f3b1ddb0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f3b1ddb0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f3b1ddb0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f3b1ddb0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6pPr>
            <a:lvl7pPr indent="-3556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/>
            </a:lvl8pPr>
            <a:lvl9pPr indent="-3556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■"/>
              <a:defRPr sz="2000"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GPU Programming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Lecture-13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Memory Hierarchy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57200" y="1200150"/>
            <a:ext cx="43434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memory much much faster than global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ocal memory is not sufficient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Global, Constant, and Texture memory available to both host and cpu</a:t>
            </a:r>
            <a:endParaRPr/>
          </a:p>
        </p:txBody>
      </p:sp>
      <p:pic>
        <p:nvPicPr>
          <p:cNvPr descr="CUDA-Memory.gif" id="77" name="Google Shape;77;p1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8525" y="1200150"/>
            <a:ext cx="3918000" cy="33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GPU Memory Hierarchy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57200" y="982775"/>
            <a:ext cx="8541900" cy="361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7" title="o987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0" y="982775"/>
            <a:ext cx="8662100" cy="33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457200" y="82426"/>
            <a:ext cx="8229600" cy="542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Shared Memory Architecture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457200" y="686200"/>
            <a:ext cx="85665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8" title="005678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25" y="704300"/>
            <a:ext cx="8944624" cy="38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Bank Conflicts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0" y="1200150"/>
            <a:ext cx="4933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memory is divided into banks</a:t>
            </a:r>
            <a:endParaRPr sz="2700"/>
          </a:p>
          <a:p>
            <a:pPr indent="-33655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bank has serial read/write access</a:t>
            </a:r>
            <a:endParaRPr sz="2700"/>
          </a:p>
          <a:p>
            <a:pPr indent="-33655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 addresses are striped</a:t>
            </a:r>
            <a:endParaRPr sz="2700"/>
          </a:p>
          <a:p>
            <a:pPr indent="-33655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more than one thread attempts to access the same bank at the same time, they’re accesses are serialized</a:t>
            </a:r>
            <a:endParaRPr sz="2700"/>
          </a:p>
          <a:p>
            <a:pPr indent="-33655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bank conflict</a:t>
            </a:r>
            <a:endParaRPr sz="2700"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Users/user/Desktop/bank-conflict.jpg" id="100" name="Google Shape;100;p1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5562" y="1200150"/>
            <a:ext cx="3063900" cy="33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5600" y="46750"/>
            <a:ext cx="90528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</a:rPr>
              <a:t>Single-Instruction, Multiple-Thread warp execution on Fermi</a:t>
            </a:r>
            <a:endParaRPr sz="1900">
              <a:solidFill>
                <a:srgbClr val="0000FF"/>
              </a:solidFill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57200" y="904150"/>
            <a:ext cx="8229600" cy="369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0" title="mm7890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55825"/>
            <a:ext cx="7297675" cy="378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6633"/>
                </a:solidFill>
              </a:rPr>
              <a:t>SIMD Execution of Scalar Threads</a:t>
            </a:r>
            <a:endParaRPr sz="2600"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57200" y="1200150"/>
            <a:ext cx="81465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1" title="9987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0150"/>
            <a:ext cx="7837475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Single Instruction Multiple Threads (SIMT)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173075" y="1200150"/>
            <a:ext cx="8229600" cy="384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200"/>
              <a:t>selected threads can be activated or deactivated, so that instructions and data are processed only on the active threads, while the local data remain unchanged on inactive threads.</a:t>
            </a:r>
            <a:endParaRPr sz="2200"/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2" title="00mnb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00" y="2493301"/>
            <a:ext cx="7210425" cy="23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457200" y="45376"/>
            <a:ext cx="8229600" cy="70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Problem with Thread Execution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57200" y="1200150"/>
            <a:ext cx="77634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3" title="99km4567789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50" y="800100"/>
            <a:ext cx="77015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349275" y="4393250"/>
            <a:ext cx="80937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0000"/>
                </a:solidFill>
              </a:rPr>
              <a:t>GPU can’t execute both paths simultaneously — it must serialize them.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Impact of Branch Divergence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Suppose we have a SIMD width (warp size) = 16.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If half the threads take </a:t>
            </a:r>
            <a:r>
              <a:rPr b="1" lang="en" sz="1400">
                <a:solidFill>
                  <a:schemeClr val="dk1"/>
                </a:solidFill>
              </a:rPr>
              <a:t>Path A</a:t>
            </a:r>
            <a:r>
              <a:rPr lang="en" sz="1400">
                <a:solidFill>
                  <a:schemeClr val="dk1"/>
                </a:solidFill>
              </a:rPr>
              <a:t> and half take </a:t>
            </a:r>
            <a:r>
              <a:rPr b="1" lang="en" sz="1400">
                <a:solidFill>
                  <a:schemeClr val="dk1"/>
                </a:solidFill>
              </a:rPr>
              <a:t>Path B</a:t>
            </a:r>
            <a:r>
              <a:rPr lang="en" sz="1400">
                <a:solidFill>
                  <a:schemeClr val="dk1"/>
                </a:solidFill>
              </a:rPr>
              <a:t>, then: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GPU first executes Path A for 8 threads, while 8 are </a:t>
            </a:r>
            <a:r>
              <a:rPr b="1" lang="en" sz="1400">
                <a:solidFill>
                  <a:schemeClr val="dk1"/>
                </a:solidFill>
              </a:rPr>
              <a:t>idle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Then executes Path B for the other 8 threads, while the first 8 are </a:t>
            </a:r>
            <a:r>
              <a:rPr b="1" lang="en" sz="1400">
                <a:solidFill>
                  <a:schemeClr val="dk1"/>
                </a:solidFill>
              </a:rPr>
              <a:t>idle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So only </a:t>
            </a:r>
            <a:r>
              <a:rPr b="1" lang="en" sz="1400">
                <a:solidFill>
                  <a:schemeClr val="dk1"/>
                </a:solidFill>
              </a:rPr>
              <a:t>8 out of 16 threads</a:t>
            </a:r>
            <a:r>
              <a:rPr lang="en" sz="1400">
                <a:solidFill>
                  <a:schemeClr val="dk1"/>
                </a:solidFill>
              </a:rPr>
              <a:t> are active at a time.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That’s </a:t>
            </a:r>
            <a:r>
              <a:rPr b="1" lang="en" sz="1400">
                <a:solidFill>
                  <a:schemeClr val="dk1"/>
                </a:solidFill>
              </a:rPr>
              <a:t>50% utilization</a:t>
            </a:r>
            <a:r>
              <a:rPr lang="en" sz="1400">
                <a:solidFill>
                  <a:schemeClr val="dk1"/>
                </a:solidFill>
              </a:rPr>
              <a:t> of SIMD lanes.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 txBox="1"/>
          <p:nvPr>
            <p:ph idx="2" type="body"/>
          </p:nvPr>
        </p:nvSpPr>
        <p:spPr>
          <a:xfrm>
            <a:off x="4495800" y="1200150"/>
            <a:ext cx="45279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24"/>
          <p:cNvCxnSpPr/>
          <p:nvPr/>
        </p:nvCxnSpPr>
        <p:spPr>
          <a:xfrm flipH="1">
            <a:off x="4414725" y="1131050"/>
            <a:ext cx="12300" cy="36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3" name="Google Shape;143;p24" title="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725" y="1200150"/>
            <a:ext cx="4442851" cy="19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Quick quiz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5" title="100897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0150"/>
            <a:ext cx="6910725" cy="16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457200" y="56024"/>
            <a:ext cx="8229600" cy="42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Solution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457200" y="686200"/>
            <a:ext cx="84306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6" title="0098443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760350"/>
            <a:ext cx="8430599" cy="371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FF"/>
                </a:solidFill>
              </a:rPr>
              <a:t>Some solutions to branch divergence</a:t>
            </a:r>
            <a:endParaRPr sz="2500">
              <a:solidFill>
                <a:srgbClr val="0000FF"/>
              </a:solidFill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124550" y="772700"/>
            <a:ext cx="8892000" cy="39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Profile</a:t>
            </a:r>
            <a:r>
              <a:rPr lang="en" sz="1500">
                <a:solidFill>
                  <a:schemeClr val="dk1"/>
                </a:solidFill>
              </a:rPr>
              <a:t> and identify the  branches.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For small branches, try </a:t>
            </a:r>
            <a:r>
              <a:rPr b="1" lang="en" sz="1500">
                <a:solidFill>
                  <a:schemeClr val="dk1"/>
                </a:solidFill>
              </a:rPr>
              <a:t>branchless</a:t>
            </a:r>
            <a:r>
              <a:rPr lang="en" sz="1500">
                <a:solidFill>
                  <a:schemeClr val="dk1"/>
                </a:solidFill>
              </a:rPr>
              <a:t> transforms → cheap &amp; fast.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If divergence is data-driven, </a:t>
            </a:r>
            <a:r>
              <a:rPr b="1" lang="en" sz="1500">
                <a:solidFill>
                  <a:schemeClr val="dk1"/>
                </a:solidFill>
              </a:rPr>
              <a:t>reorder/group inputs</a:t>
            </a:r>
            <a:r>
              <a:rPr lang="en" sz="1500">
                <a:solidFill>
                  <a:schemeClr val="dk1"/>
                </a:solidFill>
              </a:rPr>
              <a:t> → big wins.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If work varies, use </a:t>
            </a:r>
            <a:r>
              <a:rPr b="1" lang="en" sz="1500">
                <a:solidFill>
                  <a:schemeClr val="dk1"/>
                </a:solidFill>
              </a:rPr>
              <a:t>persistent threads / work queues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warp intrinsics</a:t>
            </a:r>
            <a:r>
              <a:rPr lang="en" sz="1500">
                <a:solidFill>
                  <a:schemeClr val="dk1"/>
                </a:solidFill>
              </a:rPr>
              <a:t> for fine-grained optimization.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Typical outcomes: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Branchless fixes: small → moderate speedup.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Data reordering: large speedup (can eliminate most divergence).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Work queues + warp compaction: good for skewed workloads.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457200" y="72526"/>
            <a:ext cx="8229600" cy="56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Persistent threads idea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88150" y="904150"/>
            <a:ext cx="3396600" cy="37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Instead of launching </a:t>
            </a:r>
            <a:r>
              <a:rPr i="1" lang="en" sz="1200">
                <a:solidFill>
                  <a:schemeClr val="dk1"/>
                </a:solidFill>
              </a:rPr>
              <a:t>many short-lived threads</a:t>
            </a:r>
            <a:r>
              <a:rPr lang="en" sz="1200">
                <a:solidFill>
                  <a:schemeClr val="dk1"/>
                </a:solidFill>
              </a:rPr>
              <a:t>, we launch </a:t>
            </a:r>
            <a:r>
              <a:rPr b="1" lang="en" sz="1200">
                <a:solidFill>
                  <a:schemeClr val="dk1"/>
                </a:solidFill>
              </a:rPr>
              <a:t>a small, fixed number of threads (usually one block per SM)</a:t>
            </a:r>
            <a:r>
              <a:rPr lang="en" sz="1200">
                <a:solidFill>
                  <a:schemeClr val="dk1"/>
                </a:solidFill>
              </a:rPr>
              <a:t> that </a:t>
            </a:r>
            <a:r>
              <a:rPr b="1" lang="en" sz="1200">
                <a:solidFill>
                  <a:schemeClr val="dk1"/>
                </a:solidFill>
              </a:rPr>
              <a:t>stay alive</a:t>
            </a:r>
            <a:r>
              <a:rPr lang="en" sz="1200">
                <a:solidFill>
                  <a:schemeClr val="dk1"/>
                </a:solidFill>
              </a:rPr>
              <a:t> throughout the entire computation.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These threads </a:t>
            </a:r>
            <a:r>
              <a:rPr b="1" lang="en" sz="1200">
                <a:solidFill>
                  <a:schemeClr val="dk1"/>
                </a:solidFill>
              </a:rPr>
              <a:t>keep fetching new work</a:t>
            </a:r>
            <a:r>
              <a:rPr lang="en" sz="1200">
                <a:solidFill>
                  <a:schemeClr val="dk1"/>
                </a:solidFill>
              </a:rPr>
              <a:t> dynamically from a </a:t>
            </a:r>
            <a:r>
              <a:rPr b="1" lang="en" sz="1200">
                <a:solidFill>
                  <a:schemeClr val="dk1"/>
                </a:solidFill>
              </a:rPr>
              <a:t>global work queue</a:t>
            </a:r>
            <a:r>
              <a:rPr lang="en" sz="1200">
                <a:solidFill>
                  <a:schemeClr val="dk1"/>
                </a:solidFill>
              </a:rPr>
              <a:t>, until everything is done.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</a:rPr>
              <a:t>Threads don’t terminate after one task — they persist.</a:t>
            </a:r>
            <a:br>
              <a:rPr b="1" lang="en" sz="1100">
                <a:solidFill>
                  <a:srgbClr val="FF0000"/>
                </a:solidFill>
              </a:rPr>
            </a:br>
            <a:r>
              <a:rPr b="1" lang="en" sz="1100">
                <a:solidFill>
                  <a:srgbClr val="FF0000"/>
                </a:solidFill>
              </a:rPr>
              <a:t>When one finishes, it immediately grabs another task.</a:t>
            </a:r>
            <a:br>
              <a:rPr b="1" lang="en" sz="1100">
                <a:solidFill>
                  <a:srgbClr val="FF0000"/>
                </a:solidFill>
              </a:rPr>
            </a:br>
            <a:r>
              <a:rPr b="1" lang="en" sz="1100">
                <a:solidFill>
                  <a:srgbClr val="FF0000"/>
                </a:solidFill>
              </a:rPr>
              <a:t>This keeps all SMs busy until all work is done.</a:t>
            </a:r>
            <a:endParaRPr b="1"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484825" y="911625"/>
            <a:ext cx="5544000" cy="37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__global__ void persistentKernel(Task *tasks, int totalTasks) {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__shared__ int index;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while (true) {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int taskId = atomicAdd(&amp;index, 1);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if (taskId &gt;= totalTasks) break;  // no more work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process(tasks[taskId]);           // execute task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}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" name="Google Shape;175;p28"/>
          <p:cNvCxnSpPr/>
          <p:nvPr/>
        </p:nvCxnSpPr>
        <p:spPr>
          <a:xfrm>
            <a:off x="3460550" y="892025"/>
            <a:ext cx="24300" cy="40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457200" y="72551"/>
            <a:ext cx="8229600" cy="61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Warp Divergence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124550" y="685750"/>
            <a:ext cx="3396600" cy="390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Let’s say you launch 64 threads and each warp has 32 threads.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FF"/>
                </a:solidFill>
              </a:rPr>
              <a:t>if (threadIdx.x &lt; 16)</a:t>
            </a:r>
            <a:endParaRPr sz="2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FF"/>
                </a:solidFill>
              </a:rPr>
              <a:t>    do_A();</a:t>
            </a:r>
            <a:endParaRPr sz="2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FF"/>
                </a:solidFill>
              </a:rPr>
              <a:t>else</a:t>
            </a:r>
            <a:endParaRPr sz="2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FF"/>
                </a:solidFill>
              </a:rPr>
              <a:t>    do_B();</a:t>
            </a:r>
            <a:endParaRPr sz="2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Threads 0–15 → take </a:t>
            </a:r>
            <a:r>
              <a:rPr b="1" lang="en" sz="1100">
                <a:solidFill>
                  <a:srgbClr val="FF0000"/>
                </a:solidFill>
              </a:rPr>
              <a:t>Path A</a:t>
            </a:r>
            <a:br>
              <a:rPr b="1" lang="en" sz="1100">
                <a:solidFill>
                  <a:srgbClr val="FF0000"/>
                </a:solidFill>
              </a:rPr>
            </a:br>
            <a:r>
              <a:rPr lang="en" sz="1100">
                <a:solidFill>
                  <a:srgbClr val="FF0000"/>
                </a:solidFill>
              </a:rPr>
              <a:t>Threads 16–31 → take </a:t>
            </a:r>
            <a:r>
              <a:rPr b="1" lang="en" sz="1100">
                <a:solidFill>
                  <a:srgbClr val="FF0000"/>
                </a:solidFill>
              </a:rPr>
              <a:t>Path B</a:t>
            </a:r>
            <a:br>
              <a:rPr b="1" lang="en" sz="1100">
                <a:solidFill>
                  <a:srgbClr val="FF0000"/>
                </a:solidFill>
              </a:rPr>
            </a:br>
            <a:r>
              <a:rPr lang="en" sz="1100">
                <a:solidFill>
                  <a:srgbClr val="FF0000"/>
                </a:solidFill>
              </a:rPr>
              <a:t>Threads 32–47 → Path A</a:t>
            </a:r>
            <a:br>
              <a:rPr lang="en" sz="1100">
                <a:solidFill>
                  <a:srgbClr val="FF0000"/>
                </a:solidFill>
              </a:rPr>
            </a:br>
            <a:r>
              <a:rPr lang="en" sz="1100">
                <a:solidFill>
                  <a:srgbClr val="FF0000"/>
                </a:solidFill>
              </a:rPr>
              <a:t>Threads 48–63 → Path B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9"/>
          <p:cNvSpPr txBox="1"/>
          <p:nvPr>
            <p:ph idx="2" type="body"/>
          </p:nvPr>
        </p:nvSpPr>
        <p:spPr>
          <a:xfrm>
            <a:off x="3412025" y="746450"/>
            <a:ext cx="5568000" cy="384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Branch divergence</a:t>
            </a:r>
            <a:r>
              <a:rPr lang="en" sz="1500">
                <a:solidFill>
                  <a:schemeClr val="dk1"/>
                </a:solidFill>
              </a:rPr>
              <a:t> exists globally (different threads take different paths) But </a:t>
            </a:r>
            <a:r>
              <a:rPr b="1" lang="en" sz="1500">
                <a:solidFill>
                  <a:schemeClr val="dk1"/>
                </a:solidFill>
              </a:rPr>
              <a:t>warp divergence</a:t>
            </a:r>
            <a:r>
              <a:rPr lang="en" sz="1500">
                <a:solidFill>
                  <a:schemeClr val="dk1"/>
                </a:solidFill>
              </a:rPr>
              <a:t> happens twice (inside each warp: half do A, half do B)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If we had organized data differently so that:</a:t>
            </a:r>
            <a:endParaRPr sz="1700"/>
          </a:p>
          <a:p>
            <a:pPr indent="-234950" lvl="0" marL="457200" rtl="0" algn="l">
              <a:spcBef>
                <a:spcPts val="1200"/>
              </a:spcBef>
              <a:spcAft>
                <a:spcPts val="0"/>
              </a:spcAft>
              <a:buSzPts val="100"/>
              <a:buChar char="●"/>
            </a:pPr>
            <a:r>
              <a:rPr lang="en" sz="1700"/>
              <a:t>Warp 0 → threads 0–31 → all take Path A</a:t>
            </a:r>
            <a:endParaRPr sz="1700"/>
          </a:p>
          <a:p>
            <a:pPr indent="-234950" lvl="0" marL="457200" rtl="0" algn="l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" sz="1700"/>
              <a:t>Warp 1 → threads 32–63 → all take Path B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29"/>
          <p:cNvCxnSpPr/>
          <p:nvPr/>
        </p:nvCxnSpPr>
        <p:spPr>
          <a:xfrm flipH="1">
            <a:off x="3448550" y="807100"/>
            <a:ext cx="12000" cy="41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466750" y="1"/>
            <a:ext cx="8229600" cy="62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Example Code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457200" y="1243825"/>
            <a:ext cx="3561300" cy="168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if (data[i] &gt; 0)</a:t>
            </a:r>
            <a:endParaRPr sz="19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result[i] = computeA(data[i]);</a:t>
            </a:r>
            <a:endParaRPr sz="19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else</a:t>
            </a:r>
            <a:endParaRPr sz="19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result[i] = computeB(data[i]);</a:t>
            </a:r>
            <a:endParaRPr sz="19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 txBox="1"/>
          <p:nvPr>
            <p:ph idx="2" type="body"/>
          </p:nvPr>
        </p:nvSpPr>
        <p:spPr>
          <a:xfrm>
            <a:off x="4648200" y="1195300"/>
            <a:ext cx="4332000" cy="339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Clearly, this has </a:t>
            </a:r>
            <a:r>
              <a:rPr b="1" lang="en" sz="1300">
                <a:solidFill>
                  <a:schemeClr val="dk1"/>
                </a:solidFill>
              </a:rPr>
              <a:t>branch divergence</a:t>
            </a:r>
            <a:r>
              <a:rPr lang="en" sz="1300">
                <a:solidFill>
                  <a:schemeClr val="dk1"/>
                </a:solidFill>
              </a:rPr>
              <a:t> — two possible execution paths (A and B).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Now, whether it causes </a:t>
            </a:r>
            <a:r>
              <a:rPr b="1" lang="en" sz="1300">
                <a:solidFill>
                  <a:schemeClr val="dk1"/>
                </a:solidFill>
              </a:rPr>
              <a:t>warp divergence</a:t>
            </a:r>
            <a:r>
              <a:rPr lang="en" sz="1300">
                <a:solidFill>
                  <a:schemeClr val="dk1"/>
                </a:solidFill>
              </a:rPr>
              <a:t> depends on </a:t>
            </a:r>
            <a:r>
              <a:rPr i="1" lang="en" sz="1300">
                <a:solidFill>
                  <a:schemeClr val="dk1"/>
                </a:solidFill>
              </a:rPr>
              <a:t>how data[i]</a:t>
            </a:r>
            <a:r>
              <a:rPr lang="en" sz="1300">
                <a:solidFill>
                  <a:schemeClr val="dk1"/>
                </a:solidFill>
              </a:rPr>
              <a:t> values are distributed among threads.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476350" y="621300"/>
            <a:ext cx="82104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Let’s say we launch </a:t>
            </a:r>
            <a:r>
              <a:rPr b="1" lang="en" sz="1800">
                <a:solidFill>
                  <a:schemeClr val="dk1"/>
                </a:solidFill>
              </a:rPr>
              <a:t>64 threads total</a:t>
            </a:r>
            <a:r>
              <a:rPr lang="en" sz="1800">
                <a:solidFill>
                  <a:schemeClr val="dk1"/>
                </a:solidFill>
              </a:rPr>
              <a:t> (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 warps × 32 threads/warp</a:t>
            </a:r>
            <a:r>
              <a:rPr lang="en" sz="1800">
                <a:solidFill>
                  <a:schemeClr val="dk1"/>
                </a:solidFill>
              </a:rPr>
              <a:t>).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194" name="Google Shape;194;p30" title="88765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550" y="2384125"/>
            <a:ext cx="4155500" cy="221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 title="m88765112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306073"/>
            <a:ext cx="4019550" cy="18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/>
        </p:nvSpPr>
        <p:spPr>
          <a:xfrm>
            <a:off x="488475" y="2930025"/>
            <a:ext cx="275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Ideal Situation: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81150" y="273350"/>
            <a:ext cx="3852600" cy="283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if (data[i] &gt; 0)</a:t>
            </a:r>
            <a:endParaRPr sz="23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    result[i] = computeA(data[i]);</a:t>
            </a:r>
            <a:endParaRPr sz="23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else</a:t>
            </a:r>
            <a:endParaRPr sz="23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    result[i] = computeB(data[i]);</a:t>
            </a:r>
            <a:endParaRPr/>
          </a:p>
        </p:txBody>
      </p:sp>
      <p:sp>
        <p:nvSpPr>
          <p:cNvPr id="202" name="Google Shape;202;p31"/>
          <p:cNvSpPr txBox="1"/>
          <p:nvPr>
            <p:ph idx="2" type="body"/>
          </p:nvPr>
        </p:nvSpPr>
        <p:spPr>
          <a:xfrm>
            <a:off x="4139875" y="151950"/>
            <a:ext cx="4913100" cy="456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1" title="00km556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871" y="151950"/>
            <a:ext cx="49131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/>
        </p:nvSpPr>
        <p:spPr>
          <a:xfrm>
            <a:off x="100275" y="3318200"/>
            <a:ext cx="3845400" cy="15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Threads in the same warp should ideally make the same control-flow decisions.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You can have branching in code, but keep it </a:t>
            </a:r>
            <a:r>
              <a:rPr b="1" lang="en" sz="1600">
                <a:solidFill>
                  <a:srgbClr val="0000FF"/>
                </a:solidFill>
              </a:rPr>
              <a:t>warp-aligned</a:t>
            </a:r>
            <a:r>
              <a:rPr lang="en" sz="1600">
                <a:solidFill>
                  <a:srgbClr val="0000FF"/>
                </a:solidFill>
              </a:rPr>
              <a:t>.</a:t>
            </a:r>
            <a:endParaRPr sz="23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